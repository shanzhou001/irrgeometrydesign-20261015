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数据与图件来源：</a:t>
            </a:r>
            <a:r>
              <a:rPr lang="en-US" altLang="zh-CN"/>
              <a:t>
D:\Desktop\sci\IrrGeometryDesign\README.md
D:\Desktop\sci\IrrGeometryDesign\data\public\viking_line12_small\preview.png
</a:t>
            </a:r>
            <a:r>
              <a:rPr lang="zh-CN" altLang="en-US"/>
              <a:t>当前为研究进展汇报。主任务是在固定保留道数和评价预算下研究几何筛选与缺失道恢复。图为</a:t>
            </a:r>
            <a:r>
              <a:rPr lang="en-US" altLang="zh-CN"/>
              <a:t>FFID53</a:t>
            </a:r>
            <a:r>
              <a:rPr lang="zh-CN" altLang="en-US"/>
              <a:t>、</a:t>
            </a:r>
            <a:r>
              <a:rPr lang="en-US" altLang="zh-CN"/>
              <a:t>453</a:t>
            </a:r>
            <a:r>
              <a:rPr lang="zh-CN" altLang="en-US"/>
              <a:t>、</a:t>
            </a:r>
            <a:r>
              <a:rPr lang="en-US" altLang="zh-CN"/>
              <a:t>953</a:t>
            </a:r>
            <a:r>
              <a:rPr lang="zh-CN" altLang="en-US"/>
              <a:t>的实测炮集固定窗口，显示采用逐图分位数截幅，存储数据未因此改变。当前尚未完成学校格式定稿。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数据与图件来源：</a:t>
            </a:r>
            <a:r>
              <a:rPr lang="en-US" altLang="zh-CN"/>
              <a:t>
D:\Desktop\sci\IrrGeometryDesign\figures\gui\02_survey_loaded.png
D:\Desktop\sci\IrrGeometryDesign\results\repair_20261026\INDEX.json
D:\Desktop\sci\IrrGeometryDesign\results\viking_robust_20261026\manifest.json
D:\Desktop\sci\IrrGeometryDesign\results\f3_transfer_20261027\manifest.json
D:\Desktop\sci\IrrGeometryDesign\checks\closure_20261027\project\checks.json
Python</a:t>
            </a:r>
            <a:r>
              <a:rPr lang="zh-CN" altLang="en-US"/>
              <a:t>共</a:t>
            </a:r>
            <a:r>
              <a:rPr lang="en-US" altLang="zh-CN"/>
              <a:t>113</a:t>
            </a:r>
            <a:r>
              <a:rPr lang="zh-CN" altLang="en-US"/>
              <a:t>项测试，</a:t>
            </a:r>
            <a:r>
              <a:rPr lang="en-US" altLang="zh-CN"/>
              <a:t>109</a:t>
            </a:r>
            <a:r>
              <a:rPr lang="zh-CN" altLang="en-US"/>
              <a:t>通过，</a:t>
            </a:r>
            <a:r>
              <a:rPr lang="en-US" altLang="zh-CN"/>
              <a:t>4</a:t>
            </a:r>
            <a:r>
              <a:rPr lang="zh-CN" altLang="en-US"/>
              <a:t>项跳过均依赖未安装的可选历史</a:t>
            </a:r>
            <a:r>
              <a:rPr lang="en-US" altLang="zh-CN"/>
              <a:t>RRAW</a:t>
            </a:r>
            <a:r>
              <a:rPr lang="zh-CN" altLang="en-US"/>
              <a:t>资料。</a:t>
            </a:r>
            <a:r>
              <a:rPr lang="en-US" altLang="zh-CN"/>
              <a:t>Release/Debug</a:t>
            </a:r>
            <a:r>
              <a:rPr lang="zh-CN" altLang="en-US"/>
              <a:t>数值、投影、端到端、登记</a:t>
            </a:r>
            <a:r>
              <a:rPr lang="en-US" altLang="zh-CN"/>
              <a:t>Viking</a:t>
            </a:r>
            <a:r>
              <a:rPr lang="zh-CN" altLang="en-US"/>
              <a:t>及</a:t>
            </a:r>
            <a:r>
              <a:rPr lang="en-US" altLang="zh-CN"/>
              <a:t>SPS</a:t>
            </a:r>
            <a:r>
              <a:rPr lang="zh-CN" altLang="en-US"/>
              <a:t>集成通过。最终交付在同一</a:t>
            </a:r>
            <a:r>
              <a:rPr lang="en-US" altLang="zh-CN"/>
              <a:t>Windows</a:t>
            </a:r>
            <a:r>
              <a:rPr lang="zh-CN" altLang="en-US"/>
              <a:t>主机的新建虚拟环境、无</a:t>
            </a:r>
            <a:r>
              <a:rPr lang="en-US" altLang="zh-CN"/>
              <a:t>Git/</a:t>
            </a:r>
            <a:r>
              <a:rPr lang="zh-CN" altLang="en-US"/>
              <a:t>无外部</a:t>
            </a:r>
            <a:r>
              <a:rPr lang="en-US" altLang="zh-CN"/>
              <a:t>Qt</a:t>
            </a:r>
            <a:r>
              <a:rPr lang="zh-CN" altLang="en-US"/>
              <a:t>路径临时目录完成</a:t>
            </a:r>
            <a:r>
              <a:rPr lang="en-US" altLang="zh-CN"/>
              <a:t>5</a:t>
            </a:r>
            <a:r>
              <a:rPr lang="zh-CN" altLang="en-US"/>
              <a:t>个案例和</a:t>
            </a:r>
            <a:r>
              <a:rPr lang="en-US" altLang="zh-CN"/>
              <a:t>62</a:t>
            </a:r>
            <a:r>
              <a:rPr lang="zh-CN" altLang="en-US"/>
              <a:t>次原生调用，未重跑全部历史实验。</a:t>
            </a:r>
            <a:r>
              <a:rPr lang="en-US" altLang="zh-CN"/>
              <a:t>SPS</a:t>
            </a:r>
            <a:r>
              <a:rPr lang="zh-CN" altLang="en-US"/>
              <a:t>包含</a:t>
            </a:r>
            <a:r>
              <a:rPr lang="en-US" altLang="zh-CN"/>
              <a:t>9072</a:t>
            </a:r>
            <a:r>
              <a:rPr lang="zh-CN" altLang="en-US"/>
              <a:t>个检波点，不构成二维波形成像验证。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数据与图件来源：</a:t>
            </a:r>
            <a:r>
              <a:rPr lang="en-US" altLang="zh-CN"/>
              <a:t>
D:\Desktop\sci\IrrGeometryDesign\figures\research\viking_robust_20261026\recovery.png
D:\Desktop\sci\IrrGeometryDesign\results\viking_robust_20261026\analysis\overall_means.csv
</a:t>
            </a:r>
            <a:r>
              <a:rPr lang="zh-CN" altLang="en-US"/>
              <a:t>三档为</a:t>
            </a:r>
            <a:r>
              <a:rPr lang="en-US" altLang="zh-CN"/>
              <a:t>36</a:t>
            </a:r>
            <a:r>
              <a:rPr lang="zh-CN" altLang="en-US"/>
              <a:t>、</a:t>
            </a:r>
            <a:r>
              <a:rPr lang="en-US" altLang="zh-CN"/>
              <a:t>60</a:t>
            </a:r>
            <a:r>
              <a:rPr lang="zh-CN" altLang="en-US"/>
              <a:t>、</a:t>
            </a:r>
            <a:r>
              <a:rPr lang="en-US" altLang="zh-CN"/>
              <a:t>84</a:t>
            </a:r>
            <a:r>
              <a:rPr lang="zh-CN" altLang="en-US"/>
              <a:t>道，对</a:t>
            </a:r>
            <a:r>
              <a:rPr lang="en-US" altLang="zh-CN"/>
              <a:t>120</a:t>
            </a:r>
            <a:r>
              <a:rPr lang="zh-CN" altLang="en-US"/>
              <a:t>候选道分别保留</a:t>
            </a:r>
            <a:r>
              <a:rPr lang="en-US" altLang="zh-CN"/>
              <a:t>30%</a:t>
            </a:r>
            <a:r>
              <a:rPr lang="zh-CN" altLang="en-US"/>
              <a:t>、</a:t>
            </a:r>
            <a:r>
              <a:rPr lang="en-US" altLang="zh-CN"/>
              <a:t>50%</a:t>
            </a:r>
            <a:r>
              <a:rPr lang="zh-CN" altLang="en-US"/>
              <a:t>、</a:t>
            </a:r>
            <a:r>
              <a:rPr lang="en-US" altLang="zh-CN"/>
              <a:t>70%</a:t>
            </a:r>
            <a:r>
              <a:rPr lang="zh-CN" altLang="en-US"/>
              <a:t>，包含</a:t>
            </a:r>
            <a:r>
              <a:rPr lang="en-US" altLang="zh-CN"/>
              <a:t>12</a:t>
            </a:r>
            <a:r>
              <a:rPr lang="zh-CN" altLang="en-US"/>
              <a:t>个强制先导道。内部选择用八个固定候选和</a:t>
            </a:r>
            <a:r>
              <a:rPr lang="en-US" altLang="zh-CN"/>
              <a:t>[0,1]</a:t>
            </a:r>
            <a:r>
              <a:rPr lang="zh-CN" altLang="en-US"/>
              <a:t>幅度系数，只读取观测道内部验证结果。固定曲波是冷启动</a:t>
            </a:r>
            <a:r>
              <a:rPr lang="en-US" altLang="zh-CN"/>
              <a:t>40</a:t>
            </a:r>
            <a:r>
              <a:rPr lang="zh-CN" altLang="en-US"/>
              <a:t>次，固定</a:t>
            </a:r>
            <a:r>
              <a:rPr lang="en-US" altLang="zh-CN"/>
              <a:t>f-k</a:t>
            </a:r>
            <a:r>
              <a:rPr lang="zh-CN" altLang="en-US"/>
              <a:t>为弱正则</a:t>
            </a:r>
            <a:r>
              <a:rPr lang="en-US" altLang="zh-CN"/>
              <a:t>80</a:t>
            </a:r>
            <a:r>
              <a:rPr lang="zh-CN" altLang="en-US"/>
              <a:t>次。五布局均值先按冻结条件汇总。恢复选择的增益不能全部归因于混合布局。最高密度下固定</a:t>
            </a:r>
            <a:r>
              <a:rPr lang="en-US" altLang="zh-CN"/>
              <a:t>f-k</a:t>
            </a:r>
            <a:r>
              <a:rPr lang="zh-CN" altLang="en-US"/>
              <a:t>为</a:t>
            </a:r>
            <a:r>
              <a:rPr lang="en-US" altLang="zh-CN"/>
              <a:t>5.5544dB</a:t>
            </a:r>
            <a:r>
              <a:rPr lang="zh-CN" altLang="en-US"/>
              <a:t>，内部选择为</a:t>
            </a:r>
            <a:r>
              <a:rPr lang="en-US" altLang="zh-CN"/>
              <a:t>5.4869dB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数据与图件来源：</a:t>
            </a:r>
            <a:r>
              <a:rPr lang="en-US" altLang="zh-CN"/>
              <a:t>
D:\Desktop\sci\IrrGeometryDesign\figures\research\f3_transfer_20261027\recovery.png
D:\Desktop\sci\IrrGeometryDesign\results\f3_transfer_20261027\means.csv
D:\Desktop\sci\IrrGeometryDesign\results\f3_transfer_20261027\recovery.csv
D:\Desktop\sci\IrrGeometryDesign\figures\research\viking_robust_waveforms_20261026\waveform.png
D:\Desktop\sci\IrrGeometryDesign\results\viking_quality_20261027\waveform_means.csv
F3</a:t>
            </a:r>
            <a:r>
              <a:rPr lang="zh-CN" altLang="en-US"/>
              <a:t>方案在读取波形值前冻结，</a:t>
            </a:r>
            <a:r>
              <a:rPr lang="en-US" altLang="zh-CN"/>
              <a:t>270</a:t>
            </a:r>
            <a:r>
              <a:rPr lang="zh-CN" altLang="en-US"/>
              <a:t>案例、</a:t>
            </a:r>
            <a:r>
              <a:rPr lang="en-US" altLang="zh-CN"/>
              <a:t>126</a:t>
            </a:r>
            <a:r>
              <a:rPr lang="zh-CN" altLang="en-US"/>
              <a:t>搜索、</a:t>
            </a:r>
            <a:r>
              <a:rPr lang="en-US" altLang="zh-CN"/>
              <a:t>2496</a:t>
            </a:r>
            <a:r>
              <a:rPr lang="zh-CN" altLang="en-US"/>
              <a:t>次成功原生调用。三邻近剖面是一个新增工区的相关条件，未按外层成绩调参。</a:t>
            </a:r>
            <a:r>
              <a:rPr lang="en-US" altLang="zh-CN"/>
              <a:t>215</a:t>
            </a:r>
            <a:r>
              <a:rPr lang="zh-CN" altLang="en-US"/>
              <a:t>例选线性插值，</a:t>
            </a:r>
            <a:r>
              <a:rPr lang="en-US" altLang="zh-CN"/>
              <a:t>55</a:t>
            </a:r>
            <a:r>
              <a:rPr lang="zh-CN" altLang="en-US"/>
              <a:t>例选暖曲波。右图显示原波形图的左侧子图，示例为预先指定的</a:t>
            </a:r>
            <a:r>
              <a:rPr lang="en-US" altLang="zh-CN"/>
              <a:t>FFID453</a:t>
            </a:r>
            <a:r>
              <a:rPr lang="zh-CN" altLang="en-US"/>
              <a:t>、</a:t>
            </a:r>
            <a:r>
              <a:rPr lang="en-US" altLang="zh-CN"/>
              <a:t>2.048</a:t>
            </a:r>
            <a:r>
              <a:rPr lang="zh-CN" altLang="en-US"/>
              <a:t>至</a:t>
            </a:r>
            <a:r>
              <a:rPr lang="en-US" altLang="zh-CN"/>
              <a:t>3.072</a:t>
            </a:r>
            <a:r>
              <a:rPr lang="zh-CN" altLang="en-US"/>
              <a:t>秒窗口、随机</a:t>
            </a:r>
            <a:r>
              <a:rPr lang="en-US" altLang="zh-CN"/>
              <a:t>H</a:t>
            </a:r>
            <a:r>
              <a:rPr lang="zh-CN" altLang="en-US"/>
              <a:t>、</a:t>
            </a:r>
            <a:r>
              <a:rPr lang="en-US" altLang="zh-CN"/>
              <a:t>m60</a:t>
            </a:r>
            <a:r>
              <a:rPr lang="zh-CN" altLang="en-US"/>
              <a:t>、</a:t>
            </a:r>
            <a:r>
              <a:rPr lang="en-US" altLang="zh-CN"/>
              <a:t>seed94217</a:t>
            </a:r>
            <a:r>
              <a:rPr lang="zh-CN" altLang="en-US"/>
              <a:t>、</a:t>
            </a:r>
            <a:r>
              <a:rPr lang="en-US" altLang="zh-CN"/>
              <a:t>index60</a:t>
            </a:r>
            <a:r>
              <a:rPr lang="zh-CN" altLang="en-US"/>
              <a:t>；示例未按最高分挑选。下方</a:t>
            </a:r>
            <a:r>
              <a:rPr lang="en-US" altLang="zh-CN"/>
              <a:t>RMS</a:t>
            </a:r>
            <a:r>
              <a:rPr lang="zh-CN" altLang="en-US"/>
              <a:t>与相位数值来自全部</a:t>
            </a:r>
            <a:r>
              <a:rPr lang="en-US" altLang="zh-CN"/>
              <a:t>1215</a:t>
            </a:r>
            <a:r>
              <a:rPr lang="zh-CN" altLang="en-US"/>
              <a:t>案例的内部选择，不是该单个示例。</a:t>
            </a:r>
            <a:r>
              <a:rPr lang="en-US" altLang="zh-CN"/>
              <a:t>RMS</a:t>
            </a:r>
            <a:r>
              <a:rPr lang="zh-CN" altLang="en-US"/>
              <a:t>比理想值</a:t>
            </a:r>
            <a:r>
              <a:rPr lang="en-US" altLang="zh-CN"/>
              <a:t>1</a:t>
            </a:r>
            <a:r>
              <a:rPr lang="zh-CN" altLang="en-US"/>
              <a:t>。相位在</a:t>
            </a:r>
            <a:r>
              <a:rPr lang="en-US" altLang="zh-CN"/>
              <a:t>0.02</a:t>
            </a:r>
            <a:r>
              <a:rPr lang="zh-CN" altLang="en-US"/>
              <a:t>至</a:t>
            </a:r>
            <a:r>
              <a:rPr lang="en-US" altLang="zh-CN"/>
              <a:t>0.24</a:t>
            </a:r>
            <a:r>
              <a:rPr lang="zh-CN" altLang="en-US"/>
              <a:t>周期</a:t>
            </a:r>
            <a:r>
              <a:rPr lang="en-US" altLang="zh-CN"/>
              <a:t>/</a:t>
            </a:r>
            <a:r>
              <a:rPr lang="zh-CN" altLang="en-US"/>
              <a:t>采样点、去均值</a:t>
            </a:r>
            <a:r>
              <a:rPr lang="en-US" altLang="zh-CN"/>
              <a:t>/Hann</a:t>
            </a:r>
            <a:r>
              <a:rPr lang="zh-CN" altLang="en-US"/>
              <a:t>窗后按目标谱能量加权。两个资料源绝对分数不能相减解释算法增益。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数据与图件来源：</a:t>
            </a:r>
            <a:r>
              <a:rPr lang="en-US" altLang="zh-CN"/>
              <a:t>
D:\Desktop\sci\IrrGeometryDesign\figures\research\repair_20261026\budget.png
D:\Desktop\sci\IrrGeometryDesign\results\repair_20261026\analysis\search_pairs.csv
D:\Desktop\sci\IrrGeometryDesign\results\repair_20261026\analysis\common_evaluation_pairs.csv
D:\Desktop\sci\IrrGeometryDesign\manuscript_sources\chinese\thesis.md
D:\Desktop\sci\IrrGeometryDesign\manuscript_sources\english\manuscript.md
</a:t>
            </a:r>
            <a:r>
              <a:rPr lang="zh-CN" altLang="en-US"/>
              <a:t>显著性按</a:t>
            </a:r>
            <a:r>
              <a:rPr lang="en-US" altLang="zh-CN"/>
              <a:t>24</a:t>
            </a:r>
            <a:r>
              <a:rPr lang="zh-CN" altLang="en-US"/>
              <a:t>项比较族</a:t>
            </a:r>
            <a:r>
              <a:rPr lang="en-US" altLang="zh-CN"/>
              <a:t>Holm</a:t>
            </a:r>
            <a:r>
              <a:rPr lang="zh-CN" altLang="en-US"/>
              <a:t>校正。</a:t>
            </a:r>
            <a:r>
              <a:rPr lang="en-US" altLang="zh-CN"/>
              <a:t>Adaptive</a:t>
            </a:r>
            <a:r>
              <a:rPr lang="zh-CN" altLang="en-US"/>
              <a:t>对旧</a:t>
            </a:r>
            <a:r>
              <a:rPr lang="en-US" altLang="zh-CN"/>
              <a:t>Hybrid</a:t>
            </a:r>
            <a:r>
              <a:rPr lang="zh-CN" altLang="en-US"/>
              <a:t>终点</a:t>
            </a:r>
            <a:r>
              <a:rPr lang="en-US" altLang="zh-CN"/>
              <a:t>4/6</a:t>
            </a:r>
            <a:r>
              <a:rPr lang="zh-CN" altLang="en-US"/>
              <a:t>组显著，同实际次数</a:t>
            </a:r>
            <a:r>
              <a:rPr lang="en-US" altLang="zh-CN"/>
              <a:t>1/6</a:t>
            </a:r>
            <a:r>
              <a:rPr lang="zh-CN" altLang="en-US"/>
              <a:t>；对</a:t>
            </a:r>
            <a:r>
              <a:rPr lang="en-US" altLang="zh-CN"/>
              <a:t>NoRecycle</a:t>
            </a:r>
            <a:r>
              <a:rPr lang="zh-CN" altLang="en-US"/>
              <a:t>终点</a:t>
            </a:r>
            <a:r>
              <a:rPr lang="en-US" altLang="zh-CN"/>
              <a:t>6/6</a:t>
            </a:r>
            <a:r>
              <a:rPr lang="zh-CN" altLang="en-US"/>
              <a:t>组显著，同实际次数六组差均为</a:t>
            </a:r>
            <a:r>
              <a:rPr lang="en-US" altLang="zh-CN"/>
              <a:t>0</a:t>
            </a:r>
            <a:r>
              <a:rPr lang="zh-CN" altLang="en-US"/>
              <a:t>。对</a:t>
            </a:r>
            <a:r>
              <a:rPr lang="en-US" altLang="zh-CN"/>
              <a:t>SAOnly</a:t>
            </a:r>
            <a:r>
              <a:rPr lang="zh-CN" altLang="en-US"/>
              <a:t>及</a:t>
            </a:r>
            <a:r>
              <a:rPr lang="en-US" altLang="zh-CN"/>
              <a:t>SA_Budget</a:t>
            </a:r>
            <a:r>
              <a:rPr lang="zh-CN" altLang="en-US"/>
              <a:t>未建立稳定显著优势。合成恢复以</a:t>
            </a:r>
            <a:r>
              <a:rPr lang="en-US" altLang="zh-CN"/>
              <a:t>6</a:t>
            </a:r>
            <a:r>
              <a:rPr lang="zh-CN" altLang="en-US"/>
              <a:t>个结构模板为单位，</a:t>
            </a:r>
            <a:r>
              <a:rPr lang="en-US" altLang="zh-CN"/>
              <a:t>24</a:t>
            </a:r>
            <a:r>
              <a:rPr lang="zh-CN" altLang="en-US"/>
              <a:t>项校正比较均不显著。第</a:t>
            </a:r>
            <a:r>
              <a:rPr lang="en-US" altLang="zh-CN"/>
              <a:t>4</a:t>
            </a:r>
            <a:r>
              <a:rPr lang="zh-CN" altLang="en-US"/>
              <a:t>章已加入</a:t>
            </a:r>
            <a:r>
              <a:rPr lang="en-US" altLang="zh-CN"/>
              <a:t>F3</a:t>
            </a:r>
            <a:r>
              <a:rPr lang="zh-CN" altLang="en-US"/>
              <a:t>与波形诊断，第</a:t>
            </a:r>
            <a:r>
              <a:rPr lang="en-US" altLang="zh-CN"/>
              <a:t>6</a:t>
            </a:r>
            <a:r>
              <a:rPr lang="zh-CN" altLang="en-US"/>
              <a:t>章、英文结论与附录仍需充分同步。优先使用现有数据解释贡献，不根据已见</a:t>
            </a:r>
            <a:r>
              <a:rPr lang="en-US" altLang="zh-CN"/>
              <a:t>F3</a:t>
            </a:r>
            <a:r>
              <a:rPr lang="zh-CN" altLang="en-US"/>
              <a:t>成绩反复选择最有利设置。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title"/>
          <p:cNvSpPr txBox="1"/>
          <p:nvPr/>
        </p:nvSpPr>
        <p:spPr>
          <a:xfrm>
            <a:off x="508000" y="508000"/>
            <a:ext cx="11176000" cy="825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50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4200" b="1">
                <a:solidFill>
                  <a:srgbClr val="102D3D"/>
                </a:solidFill>
                <a:latin typeface="微软雅黑" panose="020B0503020204020204" charset="-122"/>
                <a:ea typeface="微软雅黑" panose="020B0503020204020204" charset="-122"/>
              </a:rPr>
              <a:t>论文研究进展汇报</a:t>
            </a:r>
            <a:endParaRPr lang="zh-CN" altLang="en-US" sz="4200" b="1">
              <a:solidFill>
                <a:srgbClr val="102D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project-title"/>
          <p:cNvSpPr txBox="1"/>
          <p:nvPr/>
        </p:nvSpPr>
        <p:spPr>
          <a:xfrm>
            <a:off x="533400" y="1498600"/>
            <a:ext cx="111125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6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220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</a:rPr>
              <a:t>基于混合优化算法的地震采样点智能筛选方法研究</a:t>
            </a:r>
            <a:endParaRPr lang="zh-CN" altLang="en-US" sz="2200">
              <a:solidFill>
                <a:srgbClr val="23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presenter"/>
          <p:cNvSpPr txBox="1"/>
          <p:nvPr/>
        </p:nvSpPr>
        <p:spPr>
          <a:xfrm>
            <a:off x="546100" y="2159000"/>
            <a:ext cx="1054100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192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600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吴善州</a:t>
            </a:r>
            <a:r>
              <a:rPr lang="en-US" altLang="zh-CN" sz="1600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2026</a:t>
            </a:r>
            <a:r>
              <a:rPr lang="zh-CN" altLang="en-US" sz="1600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600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600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600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r>
              <a:rPr lang="zh-CN" altLang="en-US" sz="1600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1600">
              <a:solidFill>
                <a:srgbClr val="096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measured-gathers" descr="Viking Line12实测炮集，三个固定时间窗，保留完整坐标与显示说明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75" y="2692400"/>
            <a:ext cx="1068705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508000" y="393700"/>
            <a:ext cx="11176000" cy="63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38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3200" b="1">
                <a:solidFill>
                  <a:srgbClr val="102D3D"/>
                </a:solidFill>
                <a:latin typeface="微软雅黑" panose="020B0503020204020204" charset="-122"/>
                <a:ea typeface="微软雅黑" panose="020B0503020204020204" charset="-122"/>
              </a:rPr>
              <a:t>已完成的研究与系统实现</a:t>
            </a:r>
            <a:endParaRPr lang="zh-CN" altLang="en-US" sz="3200" b="1">
              <a:solidFill>
                <a:srgbClr val="102D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sps-interface" descr="原生程序读取SPS观测系统后的实际界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397000"/>
            <a:ext cx="6604000" cy="4572000"/>
          </a:xfrm>
          <a:prstGeom prst="rect">
            <a:avLst/>
          </a:prstGeom>
        </p:spPr>
      </p:pic>
      <p:sp>
        <p:nvSpPr>
          <p:cNvPr id="4" name="algorithm-label"/>
          <p:cNvSpPr txBox="1"/>
          <p:nvPr/>
        </p:nvSpPr>
        <p:spPr>
          <a:xfrm>
            <a:off x="7518400" y="1409700"/>
            <a:ext cx="416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20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</a:rPr>
              <a:t>算法与恢复</a:t>
            </a:r>
            <a:endParaRPr lang="zh-CN" altLang="en-US" sz="2000" b="1">
              <a:solidFill>
                <a:srgbClr val="096A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lgorithm-summary"/>
          <p:cNvSpPr txBox="1"/>
          <p:nvPr/>
        </p:nvSpPr>
        <p:spPr>
          <a:xfrm>
            <a:off x="7518400" y="1905000"/>
            <a:ext cx="41656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1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固定道数与预算控制</a:t>
            </a:r>
            <a:r>
              <a:rPr lang="en-US" altLang="zh-CN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覆盖约束与观测内恢复选择</a:t>
            </a:r>
            <a:endParaRPr lang="zh-CN" altLang="en-US">
              <a:solidFill>
                <a:srgbClr val="23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xperiment-label"/>
          <p:cNvSpPr txBox="1"/>
          <p:nvPr/>
        </p:nvSpPr>
        <p:spPr>
          <a:xfrm>
            <a:off x="7518400" y="2959100"/>
            <a:ext cx="416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20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</a:rPr>
              <a:t>实验与资料</a:t>
            </a:r>
            <a:endParaRPr lang="zh-CN" altLang="en-US" sz="2000" b="1">
              <a:solidFill>
                <a:srgbClr val="096A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experiment-summary"/>
          <p:cNvSpPr txBox="1"/>
          <p:nvPr/>
        </p:nvSpPr>
        <p:spPr>
          <a:xfrm>
            <a:off x="7518400" y="3429000"/>
            <a:ext cx="4165600" cy="1155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1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</a:t>
            </a:r>
            <a:r>
              <a:rPr lang="en-US" altLang="zh-CN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1980</a:t>
            </a:r>
            <a:r>
              <a:rPr lang="zh-CN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行搜索、</a:t>
            </a:r>
            <a:r>
              <a:rPr lang="en-US" altLang="zh-CN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1080</a:t>
            </a:r>
            <a:r>
              <a:rPr lang="zh-CN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行恢复</a:t>
            </a:r>
            <a:r>
              <a:rPr lang="en-US" altLang="zh-CN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Viking 1215</a:t>
            </a:r>
            <a:r>
              <a:rPr lang="zh-CN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例稳定性实验</a:t>
            </a:r>
            <a:r>
              <a:rPr lang="en-US" altLang="zh-CN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F3 270</a:t>
            </a:r>
            <a:r>
              <a:rPr lang="zh-CN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例冻结迁移</a:t>
            </a:r>
            <a:endParaRPr lang="zh-CN" altLang="en-US" sz="1750">
              <a:solidFill>
                <a:srgbClr val="23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verification-label"/>
          <p:cNvSpPr txBox="1"/>
          <p:nvPr/>
        </p:nvSpPr>
        <p:spPr>
          <a:xfrm>
            <a:off x="7518400" y="4800600"/>
            <a:ext cx="4165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20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</a:rPr>
              <a:t>软件与复现</a:t>
            </a:r>
            <a:endParaRPr lang="zh-CN" altLang="en-US" sz="2000" b="1">
              <a:solidFill>
                <a:srgbClr val="096A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verification-summary"/>
          <p:cNvSpPr txBox="1"/>
          <p:nvPr/>
        </p:nvSpPr>
        <p:spPr>
          <a:xfrm>
            <a:off x="7518400" y="5283200"/>
            <a:ext cx="4165600" cy="9779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1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109</a:t>
            </a:r>
            <a:r>
              <a:rPr lang="zh-CN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项通过，</a:t>
            </a:r>
            <a:r>
              <a:rPr lang="en-US" altLang="zh-CN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项旧资料测试跳过</a:t>
            </a:r>
            <a:r>
              <a:rPr lang="en-US" altLang="zh-CN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</a:t>
            </a:r>
            <a:r>
              <a:rPr lang="en-US" altLang="zh-CN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r>
              <a:rPr lang="zh-CN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页、英文</a:t>
            </a:r>
            <a:r>
              <a:rPr lang="en-US" altLang="zh-CN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页初稿</a:t>
            </a:r>
            <a:r>
              <a:rPr lang="en-US" altLang="zh-CN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最终包完成五方法解压实测</a:t>
            </a:r>
            <a:endParaRPr lang="zh-CN" altLang="en-US" sz="1750">
              <a:solidFill>
                <a:srgbClr val="23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cope-note"/>
          <p:cNvSpPr txBox="1"/>
          <p:nvPr/>
        </p:nvSpPr>
        <p:spPr>
          <a:xfrm>
            <a:off x="508000" y="6451600"/>
            <a:ext cx="10541000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12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图为实际</a:t>
            </a:r>
            <a:r>
              <a:rPr lang="en-US" altLang="zh-CN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SPS</a:t>
            </a:r>
            <a:r>
              <a:rPr lang="zh-CN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读入界面。二维几何应用与一维波形恢复分别评价。</a:t>
            </a:r>
            <a:endParaRPr lang="zh-CN" altLang="en-US" sz="1050">
              <a:solidFill>
                <a:srgbClr val="667A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ge-number"/>
          <p:cNvSpPr txBox="1"/>
          <p:nvPr/>
        </p:nvSpPr>
        <p:spPr>
          <a:xfrm>
            <a:off x="11252200" y="6451600"/>
            <a:ext cx="508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12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</a:rPr>
              <a:t>2 / 5</a:t>
            </a:r>
            <a:endParaRPr lang="en-US" altLang="en-US" sz="1050">
              <a:solidFill>
                <a:srgbClr val="667A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508000" y="393700"/>
            <a:ext cx="11176000" cy="63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38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3200" b="1">
                <a:solidFill>
                  <a:srgbClr val="102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Viking</a:t>
            </a:r>
            <a:r>
              <a:rPr lang="zh-CN" altLang="en-US" sz="3200" b="1">
                <a:solidFill>
                  <a:srgbClr val="102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：恢复选择改善平均预测</a:t>
            </a:r>
            <a:endParaRPr lang="zh-CN" altLang="en-US" sz="3200" b="1">
              <a:solidFill>
                <a:srgbClr val="102D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viking-recovery" descr="Viking稳定性实验原图，固定曲波、独立f-k和观测内选择的三组结果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244600"/>
            <a:ext cx="11176000" cy="3249930"/>
          </a:xfrm>
          <a:prstGeom prst="rect">
            <a:avLst/>
          </a:prstGeom>
        </p:spPr>
      </p:pic>
      <p:sp>
        <p:nvSpPr>
          <p:cNvPr id="4" name="snr-table-caption"/>
          <p:cNvSpPr txBox="1"/>
          <p:nvPr/>
        </p:nvSpPr>
        <p:spPr>
          <a:xfrm>
            <a:off x="508000" y="4546600"/>
            <a:ext cx="7112000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1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75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共同隐藏道平均</a:t>
            </a:r>
            <a:r>
              <a:rPr lang="en-US" altLang="zh-CN" sz="175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SNR</a:t>
            </a:r>
            <a:r>
              <a:rPr lang="zh-CN" altLang="en-US" sz="175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75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r>
              <a:rPr lang="zh-CN" altLang="en-US" sz="175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750" b="1">
              <a:solidFill>
                <a:srgbClr val="096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editable-viking-means"/>
          <p:cNvGraphicFramePr/>
          <p:nvPr/>
        </p:nvGraphicFramePr>
        <p:xfrm>
          <a:off x="508000" y="4953000"/>
          <a:ext cx="7112000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/>
                <a:gridCol w="1905000"/>
                <a:gridCol w="1828800"/>
                <a:gridCol w="2057400"/>
              </a:tblGrid>
              <a:tr h="342900"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保留道数</a:t>
                      </a:r>
                      <a:endParaRPr lang="zh-CN" altLang="en-US" sz="1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096A70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固定冷曲波</a:t>
                      </a:r>
                      <a:endParaRPr lang="zh-CN" altLang="en-US" sz="1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096A70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</a:t>
                      </a:r>
                      <a:r>
                        <a:rPr lang="en-US" altLang="zh-CN"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f-k</a:t>
                      </a:r>
                      <a:endParaRPr lang="en-US" altLang="zh-CN" sz="1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096A70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内部选择</a:t>
                      </a:r>
                      <a:endParaRPr lang="zh-CN" altLang="en-US" sz="1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096A70"/>
                    </a:solidFill>
                  </a:tcPr>
                </a:tc>
              </a:tr>
              <a:tr h="355600"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36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1.865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1.080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2.353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</a:tr>
              <a:tr h="355600"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60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3.104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3.379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3.989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4.213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5.554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p>
                      <a:pPr indent="0" algn="ctr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5.487</a:t>
                      </a:r>
                      <a:endParaRPr lang="en-US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6" name="gain-label"/>
          <p:cNvSpPr txBox="1"/>
          <p:nvPr/>
        </p:nvSpPr>
        <p:spPr>
          <a:xfrm>
            <a:off x="8102600" y="4711700"/>
            <a:ext cx="358140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1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75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</a:rPr>
              <a:t>相对固定冷曲波提高</a:t>
            </a:r>
            <a:endParaRPr lang="zh-CN" altLang="en-US" sz="1750" b="1">
              <a:solidFill>
                <a:srgbClr val="096A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gain-values"/>
          <p:cNvSpPr txBox="1"/>
          <p:nvPr/>
        </p:nvSpPr>
        <p:spPr>
          <a:xfrm>
            <a:off x="8102600" y="5181600"/>
            <a:ext cx="3581400" cy="393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28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900" b="1">
                <a:solidFill>
                  <a:srgbClr val="102D3D"/>
                </a:solidFill>
                <a:latin typeface="微软雅黑" panose="020B0503020204020204" charset="-122"/>
                <a:ea typeface="微软雅黑" panose="020B0503020204020204" charset="-122"/>
              </a:rPr>
              <a:t>0.488 / 0.885 / 1.274 dB</a:t>
            </a:r>
            <a:endParaRPr lang="en-US" altLang="en-US" sz="1900" b="1">
              <a:solidFill>
                <a:srgbClr val="102D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high-density-limit"/>
          <p:cNvSpPr txBox="1"/>
          <p:nvPr/>
        </p:nvSpPr>
        <p:spPr>
          <a:xfrm>
            <a:off x="8102600" y="5740400"/>
            <a:ext cx="3581400" cy="584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1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750">
                <a:solidFill>
                  <a:srgbClr val="A14F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</a:t>
            </a:r>
            <a:r>
              <a:rPr lang="zh-CN" altLang="en-US" sz="1750">
                <a:solidFill>
                  <a:srgbClr val="A14F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道时，固定</a:t>
            </a:r>
            <a:r>
              <a:rPr lang="en-US" altLang="zh-CN" sz="1750">
                <a:solidFill>
                  <a:srgbClr val="A14F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f-k</a:t>
            </a:r>
            <a:r>
              <a:rPr lang="zh-CN" altLang="en-US" sz="1750">
                <a:solidFill>
                  <a:srgbClr val="A14F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仍略高于</a:t>
            </a:r>
            <a:r>
              <a:rPr lang="en-US" altLang="zh-CN" sz="1750">
                <a:solidFill>
                  <a:srgbClr val="A14F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50">
                <a:solidFill>
                  <a:srgbClr val="A14F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内部选择</a:t>
            </a:r>
            <a:endParaRPr lang="zh-CN" altLang="en-US" sz="1750">
              <a:solidFill>
                <a:srgbClr val="A14F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cope-note"/>
          <p:cNvSpPr txBox="1"/>
          <p:nvPr/>
        </p:nvSpPr>
        <p:spPr>
          <a:xfrm>
            <a:off x="508000" y="6451600"/>
            <a:ext cx="10541000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12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1215</a:t>
            </a:r>
            <a:r>
              <a:rPr lang="zh-CN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例，同测线</a:t>
            </a:r>
            <a:r>
              <a:rPr lang="en-US" altLang="zh-CN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种子、双内层分组。表内五种布局等权，布局收益与恢复选择收益需区分。</a:t>
            </a:r>
            <a:endParaRPr lang="zh-CN" altLang="en-US" sz="1050">
              <a:solidFill>
                <a:srgbClr val="667A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number"/>
          <p:cNvSpPr txBox="1"/>
          <p:nvPr/>
        </p:nvSpPr>
        <p:spPr>
          <a:xfrm>
            <a:off x="11252200" y="6451600"/>
            <a:ext cx="508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12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</a:rPr>
              <a:t>3 / 5</a:t>
            </a:r>
            <a:endParaRPr lang="en-US" altLang="en-US" sz="1050">
              <a:solidFill>
                <a:srgbClr val="667A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508000" y="393700"/>
            <a:ext cx="11176000" cy="63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38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3200" b="1">
                <a:solidFill>
                  <a:srgbClr val="102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F3</a:t>
            </a:r>
            <a:r>
              <a:rPr lang="zh-CN" altLang="en-US" sz="3200" b="1">
                <a:solidFill>
                  <a:srgbClr val="102D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迁移与波形质量：收益具有条件性</a:t>
            </a:r>
            <a:endParaRPr lang="zh-CN" altLang="en-US" sz="3200" b="1">
              <a:solidFill>
                <a:srgbClr val="102D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xternal-label"/>
          <p:cNvSpPr txBox="1"/>
          <p:nvPr/>
        </p:nvSpPr>
        <p:spPr>
          <a:xfrm>
            <a:off x="508000" y="1244600"/>
            <a:ext cx="5461000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20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 sz="20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F3</a:t>
            </a:r>
            <a:r>
              <a:rPr lang="zh-CN" altLang="en-US" sz="20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叠后工区</a:t>
            </a:r>
            <a:endParaRPr lang="zh-CN" altLang="en-US" sz="2000" b="1">
              <a:solidFill>
                <a:srgbClr val="096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f3-transfer" descr="F3固定方案外部迁移运行原图，五种布局的平均共同隐藏SN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816100"/>
            <a:ext cx="5460365" cy="2768600"/>
          </a:xfrm>
          <a:prstGeom prst="rect">
            <a:avLst/>
          </a:prstGeom>
        </p:spPr>
      </p:pic>
      <p:sp>
        <p:nvSpPr>
          <p:cNvPr id="5" name="f3-findings"/>
          <p:cNvSpPr txBox="1"/>
          <p:nvPr/>
        </p:nvSpPr>
        <p:spPr>
          <a:xfrm>
            <a:off x="508000" y="4838700"/>
            <a:ext cx="5461000" cy="812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22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850" b="1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Jitter</a:t>
            </a:r>
            <a:r>
              <a:rPr lang="zh-CN" altLang="en-US" sz="1850" b="1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三档平均分均最高</a:t>
            </a:r>
            <a:r>
              <a:rPr lang="en-US" altLang="zh-CN" sz="1850" b="1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270</a:t>
            </a:r>
            <a:r>
              <a:rPr lang="zh-CN" altLang="en-US" sz="1850" b="1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例中</a:t>
            </a:r>
            <a:r>
              <a:rPr lang="en-US" altLang="zh-CN" sz="1850" b="1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215</a:t>
            </a:r>
            <a:r>
              <a:rPr lang="zh-CN" altLang="en-US" sz="1850" b="1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例选择线性插值</a:t>
            </a:r>
            <a:endParaRPr lang="zh-CN" altLang="en-US" sz="1850" b="1">
              <a:solidFill>
                <a:srgbClr val="23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3-limit"/>
          <p:cNvSpPr txBox="1"/>
          <p:nvPr/>
        </p:nvSpPr>
        <p:spPr>
          <a:xfrm>
            <a:off x="508000" y="5854700"/>
            <a:ext cx="5461000" cy="393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1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>
                <a:solidFill>
                  <a:srgbClr val="A14F30"/>
                </a:solidFill>
                <a:latin typeface="微软雅黑" panose="020B0503020204020204" charset="-122"/>
                <a:ea typeface="微软雅黑" panose="020B0503020204020204" charset="-122"/>
              </a:rPr>
              <a:t>外部结果尚未证明混合方法普遍更优</a:t>
            </a:r>
            <a:endParaRPr lang="zh-CN" altLang="en-US">
              <a:solidFill>
                <a:srgbClr val="A14F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waveform-label"/>
          <p:cNvSpPr txBox="1"/>
          <p:nvPr/>
        </p:nvSpPr>
        <p:spPr>
          <a:xfrm>
            <a:off x="6540500" y="1244600"/>
            <a:ext cx="5143500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20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Viking</a:t>
            </a:r>
            <a:r>
              <a:rPr lang="zh-CN" altLang="en-US" sz="20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隐藏道波形示例</a:t>
            </a:r>
            <a:endParaRPr lang="zh-CN" altLang="en-US" sz="2000" b="1">
              <a:solidFill>
                <a:srgbClr val="096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waveform-left-panel" descr="原始运行图左侧的固定隐藏道波形子图，完整源图作为图片嵌入，可取消裁切查看残差子图"/>
          <p:cNvPicPr/>
          <p:nvPr/>
        </p:nvPicPr>
        <p:blipFill>
          <a:blip r:embed="rId2"/>
          <a:srcRect r="49489"/>
          <a:stretch>
            <a:fillRect/>
          </a:stretch>
        </p:blipFill>
        <p:spPr>
          <a:xfrm>
            <a:off x="6540500" y="1816100"/>
            <a:ext cx="5143500" cy="3352800"/>
          </a:xfrm>
          <a:prstGeom prst="rect">
            <a:avLst/>
          </a:prstGeom>
        </p:spPr>
      </p:pic>
      <p:sp>
        <p:nvSpPr>
          <p:cNvPr id="9" name="waveform-rms"/>
          <p:cNvSpPr txBox="1"/>
          <p:nvPr/>
        </p:nvSpPr>
        <p:spPr>
          <a:xfrm>
            <a:off x="6540500" y="5334000"/>
            <a:ext cx="514350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0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7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</a:t>
            </a:r>
            <a:r>
              <a:rPr lang="zh-CN" altLang="en-US" sz="17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比理想值</a:t>
            </a:r>
            <a:r>
              <a:rPr lang="en-US" altLang="zh-CN" sz="17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7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7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 / 60 / 84</a:t>
            </a:r>
            <a:r>
              <a:rPr lang="zh-CN" altLang="en-US" sz="17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道）</a:t>
            </a:r>
            <a:endParaRPr lang="zh-CN" altLang="en-US" sz="1700" b="1">
              <a:solidFill>
                <a:srgbClr val="096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ms-values"/>
          <p:cNvSpPr txBox="1"/>
          <p:nvPr/>
        </p:nvSpPr>
        <p:spPr>
          <a:xfrm>
            <a:off x="6540500" y="5727700"/>
            <a:ext cx="51435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52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2100" b="1">
                <a:solidFill>
                  <a:srgbClr val="102D3D"/>
                </a:solidFill>
                <a:latin typeface="微软雅黑" panose="020B0503020204020204" charset="-122"/>
                <a:ea typeface="微软雅黑" panose="020B0503020204020204" charset="-122"/>
              </a:rPr>
              <a:t>0.497 / 0.662 / 0.764</a:t>
            </a:r>
            <a:endParaRPr lang="en-US" altLang="en-US" sz="2100" b="1">
              <a:solidFill>
                <a:srgbClr val="102D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phase-values"/>
          <p:cNvSpPr txBox="1"/>
          <p:nvPr/>
        </p:nvSpPr>
        <p:spPr>
          <a:xfrm>
            <a:off x="6540500" y="6108700"/>
            <a:ext cx="5143500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0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70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相位</a:t>
            </a:r>
            <a:r>
              <a:rPr lang="en-US" altLang="zh-CN" sz="170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MAE</a:t>
            </a:r>
            <a:r>
              <a:rPr lang="zh-CN" altLang="en-US" sz="170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70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40.06</a:t>
            </a:r>
            <a:r>
              <a:rPr lang="zh-CN" altLang="en-US" sz="170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°</a:t>
            </a:r>
            <a:r>
              <a:rPr lang="en-US" altLang="zh-CN" sz="170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25.85</a:t>
            </a:r>
            <a:r>
              <a:rPr lang="zh-CN" altLang="en-US" sz="170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°</a:t>
            </a:r>
            <a:r>
              <a:rPr lang="en-US" altLang="zh-CN" sz="170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18.68</a:t>
            </a:r>
            <a:r>
              <a:rPr lang="zh-CN" altLang="en-US" sz="170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°</a:t>
            </a:r>
            <a:endParaRPr lang="zh-CN" altLang="en-US" sz="1700">
              <a:solidFill>
                <a:srgbClr val="23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cope-note"/>
          <p:cNvSpPr txBox="1"/>
          <p:nvPr/>
        </p:nvSpPr>
        <p:spPr>
          <a:xfrm>
            <a:off x="508000" y="6451600"/>
            <a:ext cx="10541000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12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F3</a:t>
            </a:r>
            <a:r>
              <a:rPr lang="zh-CN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三个邻近剖面属于同一新增工区。波形误差针对带噪实测道，物理保幅与成像效果尚未验证。</a:t>
            </a:r>
            <a:endParaRPr lang="zh-CN" altLang="en-US" sz="1050">
              <a:solidFill>
                <a:srgbClr val="667A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ge-number"/>
          <p:cNvSpPr txBox="1"/>
          <p:nvPr/>
        </p:nvSpPr>
        <p:spPr>
          <a:xfrm>
            <a:off x="11252200" y="6451600"/>
            <a:ext cx="508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12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</a:rPr>
              <a:t>4 / 5</a:t>
            </a:r>
            <a:endParaRPr lang="en-US" altLang="en-US" sz="1050">
              <a:solidFill>
                <a:srgbClr val="667A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508000" y="393700"/>
            <a:ext cx="11176000" cy="63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38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3200" b="1">
                <a:solidFill>
                  <a:srgbClr val="102D3D"/>
                </a:solidFill>
                <a:latin typeface="微软雅黑" panose="020B0503020204020204" charset="-122"/>
                <a:ea typeface="微软雅黑" panose="020B0503020204020204" charset="-122"/>
              </a:rPr>
              <a:t>当前问题与下一步工作</a:t>
            </a:r>
            <a:endParaRPr lang="zh-CN" altLang="en-US" sz="3200" b="1">
              <a:solidFill>
                <a:srgbClr val="102D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budget-control" descr="合成实验预算机制对照原图，终点和相同实际评价次数的配对差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00505"/>
            <a:ext cx="6096000" cy="2179320"/>
          </a:xfrm>
          <a:prstGeom prst="rect">
            <a:avLst/>
          </a:prstGeom>
        </p:spPr>
      </p:pic>
      <p:sp>
        <p:nvSpPr>
          <p:cNvPr id="4" name="budget-label"/>
          <p:cNvSpPr txBox="1"/>
          <p:nvPr/>
        </p:nvSpPr>
        <p:spPr>
          <a:xfrm>
            <a:off x="508000" y="40132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2000" b="1">
                <a:solidFill>
                  <a:srgbClr val="096A70"/>
                </a:solidFill>
                <a:latin typeface="微软雅黑" panose="020B0503020204020204" charset="-122"/>
                <a:ea typeface="微软雅黑" panose="020B0503020204020204" charset="-122"/>
              </a:rPr>
              <a:t>预算机制已有实测支持</a:t>
            </a:r>
            <a:endParaRPr lang="zh-CN" altLang="en-US" sz="2000" b="1">
              <a:solidFill>
                <a:srgbClr val="096A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udget-summary"/>
          <p:cNvSpPr txBox="1"/>
          <p:nvPr/>
        </p:nvSpPr>
        <p:spPr>
          <a:xfrm>
            <a:off x="508000" y="4572000"/>
            <a:ext cx="6096000" cy="825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22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8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对旧</a:t>
            </a:r>
            <a:r>
              <a:rPr lang="en-US" altLang="zh-CN" sz="18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Hybrid</a:t>
            </a:r>
            <a:r>
              <a:rPr lang="zh-CN" altLang="en-US" sz="18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：终点</a:t>
            </a:r>
            <a:r>
              <a:rPr lang="en-US" altLang="zh-CN" sz="18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4/6</a:t>
            </a:r>
            <a:r>
              <a:rPr lang="zh-CN" altLang="en-US" sz="18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组显著</a:t>
            </a:r>
            <a:r>
              <a:rPr lang="en-US" altLang="zh-CN" sz="18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8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相同实际评价次数下仅</a:t>
            </a:r>
            <a:r>
              <a:rPr lang="en-US" altLang="zh-CN" sz="18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1/6</a:t>
            </a:r>
            <a:r>
              <a:rPr lang="zh-CN" altLang="en-US" sz="1850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组显著</a:t>
            </a:r>
            <a:endParaRPr lang="zh-CN" altLang="en-US" sz="1850">
              <a:solidFill>
                <a:srgbClr val="23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udget-conclusion"/>
          <p:cNvSpPr txBox="1"/>
          <p:nvPr/>
        </p:nvSpPr>
        <p:spPr>
          <a:xfrm>
            <a:off x="508000" y="5664200"/>
            <a:ext cx="6096000" cy="698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21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继续使用剩余预算是明确收益来源</a:t>
            </a:r>
            <a:r>
              <a:rPr lang="en-US" altLang="zh-CN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稳定超越</a:t>
            </a:r>
            <a:r>
              <a:rPr lang="en-US" altLang="zh-CN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</a:t>
            </a:r>
            <a:r>
              <a:rPr lang="zh-CN" altLang="en-US">
                <a:solidFill>
                  <a:srgbClr val="23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的证据仍不足</a:t>
            </a:r>
            <a:endParaRPr lang="zh-CN" altLang="en-US">
              <a:solidFill>
                <a:srgbClr val="23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editable-problem-plan"/>
          <p:cNvGraphicFramePr/>
          <p:nvPr/>
        </p:nvGraphicFramePr>
        <p:xfrm>
          <a:off x="6985000" y="1473200"/>
          <a:ext cx="4699000" cy="47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2755900"/>
              </a:tblGrid>
              <a:tr h="406400">
                <a:tc>
                  <a:txBody>
                    <a:bodyPr wrap="square"/>
                    <a:p>
                      <a:pPr indent="0" algn="l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当前问题</a:t>
                      </a:r>
                      <a:endParaRPr lang="zh-CN" altLang="en-US" sz="1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096A70"/>
                    </a:solidFill>
                  </a:tcPr>
                </a:tc>
                <a:tc>
                  <a:txBody>
                    <a:bodyPr wrap="square"/>
                    <a:p>
                      <a:pPr indent="0" algn="l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下一步工作</a:t>
                      </a:r>
                      <a:endParaRPr lang="zh-CN" altLang="en-US" sz="1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096A70"/>
                    </a:solidFill>
                  </a:tcPr>
                </a:tc>
              </a:tr>
              <a:tr h="1333500">
                <a:tc>
                  <a:txBody>
                    <a:bodyPr wrap="square"/>
                    <a:p>
                      <a:pPr indent="0" algn="l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算法优势</a:t>
                      </a:r>
                      <a:r>
                        <a:rPr lang="en-US" altLang="zh-CN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
</a:t>
                      </a: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尚未稳定优于</a:t>
                      </a:r>
                      <a:r>
                        <a:rPr lang="en-US" altLang="zh-CN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</a:t>
                      </a:r>
                      <a:endParaRPr lang="en-US" altLang="zh-CN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p>
                      <a:pPr indent="0" algn="l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明确预算利用贡献</a:t>
                      </a:r>
                      <a:r>
                        <a:rPr lang="en-US" altLang="zh-CN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
</a:t>
                      </a: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分离布局与恢复作用</a:t>
                      </a:r>
                      <a:endParaRPr lang="zh-CN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</a:tr>
              <a:tr h="1333500">
                <a:tc>
                  <a:txBody>
                    <a:bodyPr wrap="square"/>
                    <a:p>
                      <a:pPr indent="0" algn="l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外部证据</a:t>
                      </a:r>
                      <a:r>
                        <a:rPr lang="en-US" altLang="zh-CN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
</a:t>
                      </a: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新增工区仅</a:t>
                      </a:r>
                      <a:r>
                        <a:rPr lang="en-US" altLang="zh-CN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F3</a:t>
                      </a:r>
                      <a:endParaRPr lang="en-US" altLang="zh-CN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indent="0" algn="l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保持方案冻结</a:t>
                      </a:r>
                      <a:r>
                        <a:rPr lang="en-US" altLang="zh-CN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
</a:t>
                      </a: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扩大独立工区验证</a:t>
                      </a:r>
                      <a:endParaRPr lang="zh-CN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01800">
                <a:tc>
                  <a:txBody>
                    <a:bodyPr wrap="square"/>
                    <a:p>
                      <a:pPr indent="0" algn="l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论文定稿</a:t>
                      </a:r>
                      <a:r>
                        <a:rPr lang="en-US" altLang="zh-CN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
</a:t>
                      </a: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总论与新增结果</a:t>
                      </a:r>
                      <a:r>
                        <a:rPr lang="en-US" altLang="zh-CN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
</a:t>
                      </a: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未完全同步</a:t>
                      </a:r>
                      <a:endParaRPr lang="zh-CN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p>
                      <a:pPr indent="0" algn="l">
                        <a:lnSpc>
                          <a:spcPts val="204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更新摘要与结论</a:t>
                      </a:r>
                      <a:r>
                        <a:rPr lang="en-US" altLang="zh-CN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
</a:t>
                      </a:r>
                      <a:r>
                        <a:rPr lang="zh-CN" altLang="en-US" sz="1700" b="0">
                          <a:solidFill>
                            <a:srgbClr val="233C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完善文献与学校格式</a:t>
                      </a:r>
                      <a:endParaRPr lang="zh-CN" altLang="en-US" sz="1700" b="0">
                        <a:solidFill>
                          <a:srgbClr val="233C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8E1E5"/>
                      </a:solidFill>
                    </a:lnL>
                    <a:lnR w="6350" cmpd="sng">
                      <a:solidFill>
                        <a:srgbClr val="D8E1E5"/>
                      </a:solidFill>
                    </a:lnR>
                    <a:lnT w="6350" cmpd="sng">
                      <a:solidFill>
                        <a:srgbClr val="D8E1E5"/>
                      </a:solidFill>
                    </a:lnT>
                    <a:lnB w="6350" cmpd="sng">
                      <a:solidFill>
                        <a:srgbClr val="D8E1E5"/>
                      </a:solidFill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8" name="scope-note"/>
          <p:cNvSpPr txBox="1"/>
          <p:nvPr/>
        </p:nvSpPr>
        <p:spPr>
          <a:xfrm>
            <a:off x="508000" y="6451600"/>
            <a:ext cx="10541000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12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</a:rPr>
              <a:t>现有数据支持预算利用、覆盖可行性与条件差异分析。全文需保持负结果与适用范围一致。</a:t>
            </a:r>
            <a:endParaRPr lang="zh-CN" altLang="en-US" sz="1050">
              <a:solidFill>
                <a:srgbClr val="667A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page-number"/>
          <p:cNvSpPr txBox="1"/>
          <p:nvPr/>
        </p:nvSpPr>
        <p:spPr>
          <a:xfrm>
            <a:off x="11252200" y="6451600"/>
            <a:ext cx="508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ts val="126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050">
                <a:solidFill>
                  <a:srgbClr val="667A86"/>
                </a:solidFill>
                <a:latin typeface="微软雅黑" panose="020B0503020204020204" charset="-122"/>
                <a:ea typeface="微软雅黑" panose="020B0503020204020204" charset="-122"/>
              </a:rPr>
              <a:t>5 / 5</a:t>
            </a:r>
            <a:endParaRPr lang="en-US" altLang="en-US" sz="1050">
              <a:solidFill>
                <a:srgbClr val="667A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</Words>
  <Application>WPS 演示</Application>
  <PresentationFormat>宽屏</PresentationFormat>
  <Paragraphs>118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Calibri</vt:lpstr>
      <vt:lpstr>WPS</vt:lpstr>
      <vt:lpstr>研究概况</vt:lpstr>
      <vt:lpstr>已完成工作</vt:lpstr>
      <vt:lpstr>Viking实验结果</vt:lpstr>
      <vt:lpstr>外部验证与波形问题</vt:lpstr>
      <vt:lpstr>问题与下一步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48198</dc:creator>
  <cp:lastModifiedBy>吴善州</cp:lastModifiedBy>
  <cp:revision>157</cp:revision>
  <dcterms:created xsi:type="dcterms:W3CDTF">2019-06-19T02:08:00Z</dcterms:created>
  <dcterms:modified xsi:type="dcterms:W3CDTF">2026-10-27T01:30:28Z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43CA114CE23E4AD19EDEDB9D08747F52_11</vt:lpwstr>
  </property>
</Properties>
</file>